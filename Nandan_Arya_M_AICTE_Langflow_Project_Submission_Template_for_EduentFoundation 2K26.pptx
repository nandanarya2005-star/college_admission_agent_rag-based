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3458918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400"/>
                        <a:t>Nandan </a:t>
                      </a:r>
                      <a:r>
                        <a:rPr lang="en-IN" sz="1400" dirty="0"/>
                        <a:t>A</a:t>
                      </a:r>
                      <a:r>
                        <a:rPr lang="en-IN" sz="1400"/>
                        <a:t>rya </a:t>
                      </a:r>
                      <a:r>
                        <a:rPr lang="en-IN" sz="1400" dirty="0"/>
                        <a:t>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200" dirty="0"/>
                        <a:t>nandanarya2005@gmail.com</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dirty="0"/>
                        <a:t>+91 7899465246</a:t>
                      </a:r>
                    </a:p>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 </a:t>
            </a:r>
            <a:r>
              <a:rPr lang="en-US" sz="2400" b="1" dirty="0">
                <a:highlight>
                  <a:srgbClr val="FFFF00"/>
                </a:highlight>
              </a:rPr>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113069" y="520593"/>
            <a:ext cx="9581177" cy="461665"/>
          </a:xfrm>
          <a:prstGeom prst="rect">
            <a:avLst/>
          </a:prstGeom>
          <a:noFill/>
        </p:spPr>
        <p:txBody>
          <a:bodyPr wrap="square" rtlCol="0">
            <a:spAutoFit/>
          </a:bodyPr>
          <a:lstStyle/>
          <a:p>
            <a:r>
              <a:rPr lang="en-US" sz="2400" b="1" dirty="0"/>
              <a:t>Project Tile – </a:t>
            </a:r>
            <a:r>
              <a:rPr lang="en-US" sz="2400" dirty="0"/>
              <a:t>College Admission Agent ( RAG Based ) </a:t>
            </a:r>
            <a:endParaRPr lang="en-IN" sz="2400" b="1" dirty="0">
              <a:highlight>
                <a:srgbClr val="FFFF00"/>
              </a:highlight>
            </a:endParaRPr>
          </a:p>
        </p:txBody>
      </p:sp>
      <p:pic>
        <p:nvPicPr>
          <p:cNvPr id="5" name="Picture 4">
            <a:extLst>
              <a:ext uri="{FF2B5EF4-FFF2-40B4-BE49-F238E27FC236}">
                <a16:creationId xmlns:a16="http://schemas.microsoft.com/office/drawing/2014/main" id="{EB1E06FB-FAC1-6774-2368-232F0C794AC0}"/>
              </a:ext>
            </a:extLst>
          </p:cNvPr>
          <p:cNvPicPr>
            <a:picLocks noChangeAspect="1"/>
          </p:cNvPicPr>
          <p:nvPr/>
        </p:nvPicPr>
        <p:blipFill>
          <a:blip r:embed="rId3"/>
          <a:stretch>
            <a:fillRect/>
          </a:stretch>
        </p:blipFill>
        <p:spPr>
          <a:xfrm>
            <a:off x="4154131" y="3578943"/>
            <a:ext cx="996806" cy="1188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509200"/>
          </a:xfrm>
          <a:prstGeom prst="rect">
            <a:avLst/>
          </a:prstGeom>
          <a:noFill/>
        </p:spPr>
        <p:txBody>
          <a:bodyPr wrap="square" rtlCol="0">
            <a:spAutoFit/>
          </a:bodyPr>
          <a:lstStyle/>
          <a:p>
            <a:pPr fontAlgn="base"/>
            <a:r>
              <a:rPr lang="en-US" sz="1600" b="1" dirty="0"/>
              <a:t>Problem Statement - College Admission Agent ( RAG Based )</a:t>
            </a:r>
          </a:p>
          <a:p>
            <a:pPr fontAlgn="base"/>
            <a:endParaRPr lang="en-US" sz="1600" b="1" dirty="0"/>
          </a:p>
          <a:p>
            <a:pPr fontAlgn="base"/>
            <a:r>
              <a:rPr lang="en-US" sz="1600" b="1" dirty="0"/>
              <a:t> The Challenge </a:t>
            </a:r>
            <a:r>
              <a:rPr lang="en-US" sz="1600" dirty="0"/>
              <a:t>- A College Admission Agent, powered by RAG (Retrieval-Augmented Generation), streamlines the student admission process. It retrieves and summarizes admission policies, eligibility criteria, and FAQs from institutional databases and official sources. Prospective students can ask natural language questions and receive accurate, up-to-date responses instantly. The agent helps with course selection, application guidance, fee structure, and important deadlines. Using trusted, real-time data, it reduces manual inquiries and enhances applicant experience. This AI-driven assistant boosts transparency, accessibility, and efficiency in college admissions.</a:t>
            </a:r>
          </a:p>
          <a:p>
            <a:pPr fontAlgn="base"/>
            <a:endParaRPr lang="en-US" sz="1600" b="1" dirty="0"/>
          </a:p>
          <a:p>
            <a:pPr fontAlgn="base"/>
            <a:r>
              <a:rPr lang="en-US" sz="1600" b="1" dirty="0"/>
              <a:t> Technology -</a:t>
            </a:r>
            <a:r>
              <a:rPr lang="en-US" sz="1600" dirty="0"/>
              <a:t> Use of IBM cloud lite services /IBM Granite is mandatory. </a:t>
            </a:r>
          </a:p>
          <a:p>
            <a:pPr fontAlgn="base"/>
            <a:endParaRPr lang="en-US" sz="1600" b="1" dirty="0"/>
          </a:p>
          <a:p>
            <a:pPr lvl="0" eaLnBrk="0" fontAlgn="base" hangingPunct="0">
              <a:spcBef>
                <a:spcPct val="0"/>
              </a:spcBef>
              <a:spcAft>
                <a:spcPct val="0"/>
              </a:spcAft>
              <a:buClrTx/>
            </a:pP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600" b="1" u="sng" dirty="0">
                <a:solidFill>
                  <a:schemeClr val="tx1"/>
                </a:solidFill>
                <a:latin typeface="Arial" panose="020B0604020202020204" pitchFamily="34" charset="0"/>
              </a:rPr>
              <a:t>Objectives</a:t>
            </a:r>
            <a:r>
              <a:rPr lang="en-US" altLang="en-US" sz="1600" b="1" dirty="0">
                <a:solidFill>
                  <a:schemeClr val="tx1"/>
                </a:solidFill>
                <a:latin typeface="Arial" panose="020B0604020202020204" pitchFamily="34" charset="0"/>
              </a:rPr>
              <a:t> – College Admission Agent (RAG Based)</a:t>
            </a:r>
          </a:p>
          <a:p>
            <a:pPr lvl="0" eaLnBrk="0" fontAlgn="base" hangingPunct="0">
              <a:spcBef>
                <a:spcPct val="0"/>
              </a:spcBef>
              <a:spcAft>
                <a:spcPct val="0"/>
              </a:spcAft>
              <a:buClrTx/>
            </a:pP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Develop an AI-powered admission assistant using IBM Granite</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Provide accurate answers using Retrieval-Augmented Generation (RAG)</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Retrieve key information like eligibility, fees, and deadlines</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Deliver instant responses and reduce manual workload</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Improve transparency and user experience in admissions</a:t>
            </a:r>
          </a:p>
          <a:p>
            <a:pPr lvl="0" eaLnBrk="0" fontAlgn="base" hangingPunct="0">
              <a:spcBef>
                <a:spcPct val="0"/>
              </a:spcBef>
              <a:spcAft>
                <a:spcPct val="0"/>
              </a:spcAft>
              <a:buClrTx/>
              <a:buFontTx/>
              <a:buChar char="•"/>
            </a:pPr>
            <a:r>
              <a:rPr lang="en-US" altLang="en-US" sz="1600" dirty="0">
                <a:solidFill>
                  <a:schemeClr val="tx1"/>
                </a:solidFill>
                <a:latin typeface="Arial" panose="020B0604020202020204" pitchFamily="34" charset="0"/>
              </a:rPr>
              <a:t>Assist students in course selection and application guidance</a:t>
            </a:r>
          </a:p>
          <a:p>
            <a:pPr fontAlgn="base"/>
            <a:endParaRPr lang="en-US" sz="1600" dirty="0"/>
          </a:p>
          <a:p>
            <a:pPr fontAlgn="base"/>
            <a:endParaRPr lang="en-IN" sz="1600"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eaLnBrk="0" fontAlgn="base" hangingPunct="0">
              <a:spcBef>
                <a:spcPct val="0"/>
              </a:spcBef>
              <a:spcAft>
                <a:spcPct val="0"/>
              </a:spcAft>
              <a:buClrTx/>
            </a:pPr>
            <a:r>
              <a:rPr lang="en-US" altLang="en-US" sz="1600" b="1" dirty="0">
                <a:solidFill>
                  <a:schemeClr val="tx1"/>
                </a:solidFill>
                <a:latin typeface="Arial" panose="020B0604020202020204" pitchFamily="34" charset="0"/>
              </a:rPr>
              <a:t>Proposed Solution: AI-Powered College Admission Agent</a:t>
            </a:r>
          </a:p>
          <a:p>
            <a:pPr lvl="0" eaLnBrk="0" fontAlgn="base" hangingPunct="0">
              <a:spcBef>
                <a:spcPct val="0"/>
              </a:spcBef>
              <a:spcAft>
                <a:spcPct val="0"/>
              </a:spcAft>
              <a:buClrTx/>
            </a:pPr>
            <a:endParaRPr lang="en-US" altLang="en-US" sz="1600" b="1"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1600" dirty="0">
                <a:solidFill>
                  <a:schemeClr val="tx1"/>
                </a:solidFill>
                <a:latin typeface="Arial" panose="020B0604020202020204" pitchFamily="34" charset="0"/>
              </a:rPr>
              <a:t>The proposed solution is an </a:t>
            </a:r>
            <a:r>
              <a:rPr lang="en-US" altLang="en-US" sz="1600" b="1" dirty="0">
                <a:solidFill>
                  <a:schemeClr val="tx1"/>
                </a:solidFill>
                <a:latin typeface="Arial" panose="020B0604020202020204" pitchFamily="34" charset="0"/>
              </a:rPr>
              <a:t>AI-powered College Admission Agent</a:t>
            </a:r>
            <a:r>
              <a:rPr lang="en-US" altLang="en-US" sz="1600" dirty="0">
                <a:solidFill>
                  <a:schemeClr val="tx1"/>
                </a:solidFill>
                <a:latin typeface="Arial" panose="020B0604020202020204" pitchFamily="34" charset="0"/>
              </a:rPr>
              <a:t> built using </a:t>
            </a:r>
            <a:r>
              <a:rPr lang="en-US" altLang="en-US" sz="1600" b="1" dirty="0">
                <a:solidFill>
                  <a:schemeClr val="tx1"/>
                </a:solidFill>
                <a:latin typeface="Arial" panose="020B0604020202020204" pitchFamily="34" charset="0"/>
              </a:rPr>
              <a:t>IBM Orchestrate, IBM watsonx.ai, and Granite Models</a:t>
            </a:r>
            <a:r>
              <a:rPr lang="en-US" altLang="en-US" sz="1600" dirty="0">
                <a:solidFill>
                  <a:schemeClr val="tx1"/>
                </a:solidFill>
                <a:latin typeface="Arial" panose="020B0604020202020204" pitchFamily="34" charset="0"/>
              </a:rPr>
              <a:t> to provide accurate, real-time admission guidance. The system addresses challenges in handling student queries, understanding admission criteria, and simplifying the application process through an intelligent, modular architecture.</a:t>
            </a:r>
          </a:p>
          <a:p>
            <a:pPr lvl="0" eaLnBrk="0" fontAlgn="base" hangingPunct="0">
              <a:spcBef>
                <a:spcPct val="0"/>
              </a:spcBef>
              <a:spcAft>
                <a:spcPct val="0"/>
              </a:spcAft>
              <a:buClrTx/>
            </a:pPr>
            <a:r>
              <a:rPr lang="en-US" altLang="en-US" sz="1600" dirty="0">
                <a:solidFill>
                  <a:schemeClr val="tx1"/>
                </a:solidFill>
                <a:latin typeface="Arial" panose="020B0604020202020204" pitchFamily="34" charset="0"/>
              </a:rPr>
              <a:t>At its core, the solution uses a </a:t>
            </a:r>
            <a:r>
              <a:rPr lang="en-US" altLang="en-US" sz="1600" b="1" dirty="0">
                <a:solidFill>
                  <a:schemeClr val="tx1"/>
                </a:solidFill>
                <a:latin typeface="Arial" panose="020B0604020202020204" pitchFamily="34" charset="0"/>
              </a:rPr>
              <a:t>Retrieval-Augmented Generation (RAG)</a:t>
            </a:r>
            <a:r>
              <a:rPr lang="en-US" altLang="en-US" sz="1600" dirty="0">
                <a:solidFill>
                  <a:schemeClr val="tx1"/>
                </a:solidFill>
                <a:latin typeface="Arial" panose="020B0604020202020204" pitchFamily="34" charset="0"/>
              </a:rPr>
              <a:t> pipeline to fetch reliable information from institutional sources such as admission brochures, eligibility documents, fee structures, and FAQs. This data is embedded and stored in a vector database, enabling the system to retrieve and generate precise, context-aware responses using Granite models.</a:t>
            </a:r>
          </a:p>
          <a:p>
            <a:pPr lvl="0" eaLnBrk="0" fontAlgn="base" hangingPunct="0">
              <a:spcBef>
                <a:spcPct val="0"/>
              </a:spcBef>
              <a:spcAft>
                <a:spcPct val="0"/>
              </a:spcAft>
              <a:buClrTx/>
            </a:pPr>
            <a:r>
              <a:rPr lang="en-US" altLang="en-US" sz="1600" dirty="0">
                <a:solidFill>
                  <a:schemeClr val="tx1"/>
                </a:solidFill>
                <a:latin typeface="Arial" panose="020B0604020202020204" pitchFamily="34" charset="0"/>
              </a:rPr>
              <a:t>The system consists of four key agents:</a:t>
            </a:r>
            <a:br>
              <a:rPr lang="en-US" altLang="en-US" sz="1600"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Admission Knowledge Agent</a:t>
            </a:r>
            <a:r>
              <a:rPr lang="en-US" altLang="en-US" sz="1600" dirty="0">
                <a:solidFill>
                  <a:schemeClr val="tx1"/>
                </a:solidFill>
                <a:latin typeface="Arial" panose="020B0604020202020204" pitchFamily="34" charset="0"/>
              </a:rPr>
              <a:t> retrieves and summarizes admission-related information using RAG.</a:t>
            </a:r>
            <a:br>
              <a:rPr lang="en-US" altLang="en-US" sz="1600"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Course Recommendation Agent</a:t>
            </a:r>
            <a:r>
              <a:rPr lang="en-US" altLang="en-US" sz="1600" dirty="0">
                <a:solidFill>
                  <a:schemeClr val="tx1"/>
                </a:solidFill>
                <a:latin typeface="Arial" panose="020B0604020202020204" pitchFamily="34" charset="0"/>
              </a:rPr>
              <a:t> suggests suitable programs based on student interests, eligibility, and academic background.</a:t>
            </a:r>
            <a:br>
              <a:rPr lang="en-US" altLang="en-US" sz="1600"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Application Guidance Agent</a:t>
            </a:r>
            <a:r>
              <a:rPr lang="en-US" altLang="en-US" sz="1600" dirty="0">
                <a:solidFill>
                  <a:schemeClr val="tx1"/>
                </a:solidFill>
                <a:latin typeface="Arial" panose="020B0604020202020204" pitchFamily="34" charset="0"/>
              </a:rPr>
              <a:t> provides step-by-step support for form filling, document submission, and deadlines.</a:t>
            </a:r>
            <a:br>
              <a:rPr lang="en-US" altLang="en-US" sz="1600" dirty="0">
                <a:solidFill>
                  <a:schemeClr val="tx1"/>
                </a:solidFill>
                <a:latin typeface="Arial" panose="020B0604020202020204" pitchFamily="34" charset="0"/>
              </a:rPr>
            </a:br>
            <a:r>
              <a:rPr lang="en-US" altLang="en-US" sz="1600" b="1" dirty="0">
                <a:solidFill>
                  <a:schemeClr val="tx1"/>
                </a:solidFill>
                <a:latin typeface="Arial" panose="020B0604020202020204" pitchFamily="34" charset="0"/>
              </a:rPr>
              <a:t>Query &amp; Support Agent</a:t>
            </a:r>
            <a:r>
              <a:rPr lang="en-US" altLang="en-US" sz="1600" dirty="0">
                <a:solidFill>
                  <a:schemeClr val="tx1"/>
                </a:solidFill>
                <a:latin typeface="Arial" panose="020B0604020202020204" pitchFamily="34" charset="0"/>
              </a:rPr>
              <a:t> handles real-time student queries and provides instant, accurate responses.</a:t>
            </a:r>
          </a:p>
          <a:p>
            <a:pPr lvl="0" eaLnBrk="0" fontAlgn="base" hangingPunct="0">
              <a:spcBef>
                <a:spcPct val="0"/>
              </a:spcBef>
              <a:spcAft>
                <a:spcPct val="0"/>
              </a:spcAft>
              <a:buClrTx/>
            </a:pPr>
            <a:r>
              <a:rPr lang="en-US" altLang="en-US" sz="1600" dirty="0">
                <a:solidFill>
                  <a:schemeClr val="tx1"/>
                </a:solidFill>
                <a:latin typeface="Arial" panose="020B0604020202020204" pitchFamily="34" charset="0"/>
              </a:rPr>
              <a:t>The solution includes a </a:t>
            </a:r>
            <a:r>
              <a:rPr lang="en-US" altLang="en-US" sz="1600" b="1" dirty="0">
                <a:solidFill>
                  <a:schemeClr val="tx1"/>
                </a:solidFill>
                <a:latin typeface="Arial" panose="020B0604020202020204" pitchFamily="34" charset="0"/>
              </a:rPr>
              <a:t>user-friendly chat interface</a:t>
            </a:r>
            <a:r>
              <a:rPr lang="en-US" altLang="en-US" sz="1600" dirty="0">
                <a:solidFill>
                  <a:schemeClr val="tx1"/>
                </a:solidFill>
                <a:latin typeface="Arial" panose="020B0604020202020204" pitchFamily="34" charset="0"/>
              </a:rPr>
              <a:t> (built with </a:t>
            </a:r>
            <a:r>
              <a:rPr lang="en-US" altLang="en-US" sz="1600" dirty="0" err="1">
                <a:solidFill>
                  <a:schemeClr val="tx1"/>
                </a:solidFill>
                <a:latin typeface="Arial" panose="020B0604020202020204" pitchFamily="34" charset="0"/>
              </a:rPr>
              <a:t>Streamlit</a:t>
            </a:r>
            <a:r>
              <a:rPr lang="en-US" altLang="en-US" sz="1600" dirty="0">
                <a:solidFill>
                  <a:schemeClr val="tx1"/>
                </a:solidFill>
                <a:latin typeface="Arial" panose="020B0604020202020204" pitchFamily="34" charset="0"/>
              </a:rPr>
              <a:t> or React) that allows seamless </a:t>
            </a:r>
            <a:r>
              <a:rPr lang="en-US" altLang="en-US" sz="1600" dirty="0" err="1">
                <a:solidFill>
                  <a:schemeClr val="tx1"/>
                </a:solidFill>
                <a:latin typeface="Arial" panose="020B0604020202020204" pitchFamily="34" charset="0"/>
              </a:rPr>
              <a:t>interaction.IBM</a:t>
            </a:r>
            <a:r>
              <a:rPr lang="en-US" altLang="en-US" sz="1600" dirty="0">
                <a:solidFill>
                  <a:schemeClr val="tx1"/>
                </a:solidFill>
                <a:latin typeface="Arial" panose="020B0604020202020204" pitchFamily="34" charset="0"/>
              </a:rPr>
              <a:t> Orchestrate the agent workflows, while watsonx.ai ensures scalable deployment, embeddings, and AI governance. Granite models power reasoning, summarization, and personalization.</a:t>
            </a:r>
          </a:p>
          <a:p>
            <a:pPr lvl="0" eaLnBrk="0" fontAlgn="base" hangingPunct="0">
              <a:spcBef>
                <a:spcPct val="0"/>
              </a:spcBef>
              <a:spcAft>
                <a:spcPct val="0"/>
              </a:spcAft>
              <a:buClrTx/>
            </a:pPr>
            <a:r>
              <a:rPr lang="en-US" altLang="en-US" sz="1600" dirty="0">
                <a:solidFill>
                  <a:schemeClr val="tx1"/>
                </a:solidFill>
                <a:latin typeface="Arial" panose="020B0604020202020204" pitchFamily="34" charset="0"/>
              </a:rPr>
              <a:t>Overall, this solution delivers an </a:t>
            </a:r>
            <a:r>
              <a:rPr lang="en-US" altLang="en-US" sz="1600" b="1" dirty="0">
                <a:solidFill>
                  <a:schemeClr val="tx1"/>
                </a:solidFill>
                <a:latin typeface="Arial" panose="020B0604020202020204" pitchFamily="34" charset="0"/>
              </a:rPr>
              <a:t>end-to-end intelligent admission assistant</a:t>
            </a:r>
            <a:r>
              <a:rPr lang="en-US" altLang="en-US" sz="1600" dirty="0">
                <a:solidFill>
                  <a:schemeClr val="tx1"/>
                </a:solidFill>
                <a:latin typeface="Arial" panose="020B0604020202020204" pitchFamily="34" charset="0"/>
              </a:rPr>
              <a:t> that enhances transparency, reduces manual workload, and improves the overall student experience.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940088"/>
          </a:xfrm>
          <a:prstGeom prst="rect">
            <a:avLst/>
          </a:prstGeom>
          <a:noFill/>
        </p:spPr>
        <p:txBody>
          <a:bodyPr wrap="square" rtlCol="0">
            <a:spAutoFit/>
          </a:bodyPr>
          <a:lstStyle/>
          <a:p>
            <a:r>
              <a:rPr lang="en-IN" sz="2000" dirty="0"/>
              <a:t>• </a:t>
            </a:r>
            <a:r>
              <a:rPr lang="en-IN" sz="2000" b="1" dirty="0"/>
              <a:t>IBM </a:t>
            </a:r>
            <a:r>
              <a:rPr lang="en-IN" sz="2000" b="1" dirty="0" err="1"/>
              <a:t>Watsonx</a:t>
            </a:r>
            <a:r>
              <a:rPr lang="en-IN" sz="2000" b="1" dirty="0"/>
              <a:t> Orchestrate</a:t>
            </a:r>
            <a:r>
              <a:rPr lang="en-IN" sz="2000" dirty="0"/>
              <a:t> – Used to design and manage the AI agent workflow and automate admission-related tasks</a:t>
            </a:r>
          </a:p>
          <a:p>
            <a:endParaRPr lang="en-IN" sz="2000" dirty="0"/>
          </a:p>
          <a:p>
            <a:r>
              <a:rPr lang="en-IN" sz="2000" dirty="0"/>
              <a:t>• </a:t>
            </a:r>
            <a:r>
              <a:rPr lang="en-IN" sz="2000" b="1" dirty="0"/>
              <a:t>IBM Granite Model</a:t>
            </a:r>
            <a:r>
              <a:rPr lang="en-IN" sz="2000" dirty="0"/>
              <a:t> – GPT-OSS 120B — OpenAI (via </a:t>
            </a:r>
            <a:r>
              <a:rPr lang="en-IN" sz="2000" dirty="0" err="1"/>
              <a:t>Groq</a:t>
            </a:r>
            <a:r>
              <a:rPr lang="en-IN" sz="2000" dirty="0"/>
              <a:t>)– For understanding student queries and generating accurate responses</a:t>
            </a:r>
          </a:p>
          <a:p>
            <a:endParaRPr lang="en-IN" sz="2000" dirty="0"/>
          </a:p>
          <a:p>
            <a:r>
              <a:rPr lang="en-IN" sz="2000" dirty="0"/>
              <a:t>• </a:t>
            </a:r>
            <a:r>
              <a:rPr lang="en-IN" sz="2000" b="1" dirty="0"/>
              <a:t>IBM Cloud</a:t>
            </a:r>
            <a:r>
              <a:rPr lang="en-IN" sz="2000" dirty="0"/>
              <a:t> – Provides a secure and scalable platform to deploy the admission agent</a:t>
            </a:r>
          </a:p>
          <a:p>
            <a:endParaRPr lang="en-IN" sz="2000" dirty="0"/>
          </a:p>
          <a:p>
            <a:r>
              <a:rPr lang="en-IN" sz="2000" dirty="0"/>
              <a:t>• </a:t>
            </a:r>
            <a:r>
              <a:rPr lang="en-IN" sz="2000" b="1" dirty="0"/>
              <a:t>RAG (Retrieval-Augmented Generation)</a:t>
            </a:r>
            <a:r>
              <a:rPr lang="en-IN" sz="2000" dirty="0"/>
              <a:t> – Fetches real admission data first, then generates reliable answers</a:t>
            </a:r>
          </a:p>
          <a:p>
            <a:endParaRPr lang="en-IN" sz="2000" dirty="0"/>
          </a:p>
          <a:p>
            <a:r>
              <a:rPr lang="en-IN" sz="2000" dirty="0"/>
              <a:t>• </a:t>
            </a:r>
            <a:r>
              <a:rPr lang="en-IN" sz="2000" b="1" dirty="0"/>
              <a:t>IBM Watsonx.ai</a:t>
            </a:r>
            <a:r>
              <a:rPr lang="en-IN" sz="2000" dirty="0"/>
              <a:t> – Used for model deployment, embeddings, and AI services</a:t>
            </a:r>
          </a:p>
          <a:p>
            <a:endParaRPr lang="en-IN" sz="2000" dirty="0"/>
          </a:p>
          <a:p>
            <a:r>
              <a:rPr lang="en-IN" sz="2000" dirty="0"/>
              <a:t>• </a:t>
            </a:r>
            <a:r>
              <a:rPr lang="en-IN" sz="2000" b="1" dirty="0"/>
              <a:t>Vector Database (FAISS/Chroma)</a:t>
            </a:r>
            <a:r>
              <a:rPr lang="en-IN" sz="2000" dirty="0"/>
              <a:t> – Stores and retrieves admission-related data efficiently</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3500" b="1" dirty="0">
                <a:solidFill>
                  <a:srgbClr val="051D3A"/>
                </a:solidFill>
                <a:latin typeface="Arial" panose="020B0604020202020204" pitchFamily="34" charset="0"/>
                <a:cs typeface="Arial" panose="020B0604020202020204" pitchFamily="34" charset="0"/>
                <a:sym typeface="Times New Roman"/>
              </a:rPr>
              <a:t>C</a:t>
            </a:r>
            <a:r>
              <a:rPr lang="en-US" sz="2400" b="1" dirty="0">
                <a:sym typeface="Times New Roman"/>
              </a:rPr>
              <a:t>omponent Used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7632859"/>
          </a:xfrm>
          <a:prstGeom prst="rect">
            <a:avLst/>
          </a:prstGeom>
          <a:noFill/>
        </p:spPr>
        <p:txBody>
          <a:bodyPr wrap="square" rtlCol="0">
            <a:spAutoFit/>
          </a:bodyPr>
          <a:lstStyle/>
          <a:p>
            <a:r>
              <a:rPr lang="en-US" b="1" dirty="0"/>
              <a:t>1) Chat Input </a:t>
            </a:r>
            <a:r>
              <a:rPr lang="en-US" dirty="0"/>
              <a:t>– </a:t>
            </a:r>
            <a:r>
              <a:rPr lang="en-IN" dirty="0"/>
              <a:t>Interface where students enter queries such as course details, eligibility, fees, admission deadlines, and required documents</a:t>
            </a:r>
            <a:endParaRPr lang="en-US" dirty="0"/>
          </a:p>
          <a:p>
            <a:endParaRPr lang="en-US" dirty="0"/>
          </a:p>
          <a:p>
            <a:r>
              <a:rPr lang="en-US" b="1" dirty="0"/>
              <a:t>2) IBM </a:t>
            </a:r>
            <a:r>
              <a:rPr lang="en-US" b="1" dirty="0" err="1"/>
              <a:t>watsonx</a:t>
            </a:r>
            <a:r>
              <a:rPr lang="en-US" b="1" dirty="0"/>
              <a:t> AI Agent </a:t>
            </a:r>
            <a:r>
              <a:rPr lang="en-US" dirty="0"/>
              <a:t>- </a:t>
            </a:r>
            <a:r>
              <a:rPr lang="en-IN" dirty="0"/>
              <a:t>Processes user queries using </a:t>
            </a:r>
            <a:r>
              <a:rPr lang="en-IN" b="1" dirty="0"/>
              <a:t>Granite models</a:t>
            </a:r>
            <a:r>
              <a:rPr lang="en-IN" dirty="0"/>
              <a:t> and generates intelligent, context-aware responses for admission-related questions.</a:t>
            </a:r>
          </a:p>
          <a:p>
            <a:endParaRPr lang="en-US" dirty="0"/>
          </a:p>
          <a:p>
            <a:r>
              <a:rPr lang="en-US" b="1" dirty="0"/>
              <a:t>3) Name of IBM Granite model - </a:t>
            </a:r>
            <a:r>
              <a:rPr lang="en-US" dirty="0"/>
              <a:t>Granite-4.0-8B-Instruct → Fast, efficient for </a:t>
            </a:r>
            <a:r>
              <a:rPr lang="en-IN" dirty="0"/>
              <a:t>like eligibility checks, course suggestions, and FAQs.</a:t>
            </a:r>
            <a:endParaRPr lang="en-US" dirty="0"/>
          </a:p>
          <a:p>
            <a:endParaRPr lang="en-US" dirty="0"/>
          </a:p>
          <a:p>
            <a:r>
              <a:rPr lang="en-US" b="1" dirty="0"/>
              <a:t>4) Chat output -</a:t>
            </a:r>
            <a:r>
              <a:rPr lang="en-IN" dirty="0"/>
              <a:t>Displays AI-generated responses such as: </a:t>
            </a:r>
          </a:p>
          <a:p>
            <a:r>
              <a:rPr lang="en-IN" dirty="0"/>
              <a:t>                           Course recommendations </a:t>
            </a:r>
          </a:p>
          <a:p>
            <a:r>
              <a:rPr lang="en-IN" dirty="0"/>
              <a:t>                           Admission procedures </a:t>
            </a:r>
          </a:p>
          <a:p>
            <a:r>
              <a:rPr lang="en-IN" dirty="0"/>
              <a:t>                           Eligibility criteria </a:t>
            </a:r>
          </a:p>
          <a:p>
            <a:r>
              <a:rPr lang="en-IN" dirty="0"/>
              <a:t>                           Fee structure details</a:t>
            </a:r>
            <a:endParaRPr lang="en-US" dirty="0"/>
          </a:p>
          <a:p>
            <a:r>
              <a:rPr lang="en-US" b="1" dirty="0"/>
              <a:t>5) </a:t>
            </a:r>
            <a:r>
              <a:rPr lang="en-US" b="1" dirty="0">
                <a:highlight>
                  <a:srgbClr val="FFFF00"/>
                </a:highlight>
              </a:rPr>
              <a:t>File component </a:t>
            </a:r>
            <a:r>
              <a:rPr lang="en-IN" dirty="0">
                <a:highlight>
                  <a:srgbClr val="FFFF00"/>
                </a:highlight>
              </a:rPr>
              <a:t>Stores and manages: </a:t>
            </a:r>
          </a:p>
          <a:p>
            <a:r>
              <a:rPr lang="en-IN" dirty="0">
                <a:highlight>
                  <a:srgbClr val="FFFF00"/>
                </a:highlight>
              </a:rPr>
              <a:t>Admission documents (PDFs, brochures, policies) </a:t>
            </a:r>
          </a:p>
          <a:p>
            <a:r>
              <a:rPr lang="en-IN" dirty="0">
                <a:highlight>
                  <a:srgbClr val="FFFF00"/>
                </a:highlight>
              </a:rPr>
              <a:t>Course details and eligibility rules </a:t>
            </a:r>
          </a:p>
          <a:p>
            <a:r>
              <a:rPr lang="en-IN" dirty="0">
                <a:highlight>
                  <a:srgbClr val="FFFF00"/>
                </a:highlight>
              </a:rPr>
              <a:t>Historical queries and FAQs</a:t>
            </a:r>
            <a:br>
              <a:rPr lang="en-IN" dirty="0">
                <a:highlight>
                  <a:srgbClr val="FFFF00"/>
                </a:highlight>
              </a:rPr>
            </a:br>
            <a:r>
              <a:rPr lang="en-IN" dirty="0">
                <a:highlight>
                  <a:srgbClr val="FFFF00"/>
                </a:highlight>
              </a:rPr>
              <a:t>Used for retrieval and continuous learning.</a:t>
            </a:r>
            <a:endParaRPr lang="en-US" dirty="0"/>
          </a:p>
          <a:p>
            <a:endParaRPr lang="en-US" dirty="0"/>
          </a:p>
          <a:p>
            <a:r>
              <a:rPr lang="en-US" dirty="0"/>
              <a:t>6) </a:t>
            </a:r>
            <a:r>
              <a:rPr lang="en-IN" b="1" dirty="0">
                <a:highlight>
                  <a:srgbClr val="FFFF00"/>
                </a:highlight>
              </a:rPr>
              <a:t>RAG (Retrieval-Augmented Generation) Component</a:t>
            </a:r>
            <a:br>
              <a:rPr lang="en-IN" dirty="0">
                <a:highlight>
                  <a:srgbClr val="FFFF00"/>
                </a:highlight>
              </a:rPr>
            </a:br>
            <a:r>
              <a:rPr lang="en-IN" dirty="0">
                <a:highlight>
                  <a:srgbClr val="FFFF00"/>
                </a:highlight>
              </a:rPr>
              <a:t>Retrieves relevant information from: </a:t>
            </a:r>
          </a:p>
          <a:p>
            <a:r>
              <a:rPr lang="en-IN" dirty="0">
                <a:highlight>
                  <a:srgbClr val="FFFF00"/>
                </a:highlight>
              </a:rPr>
              <a:t>Admission brochures </a:t>
            </a:r>
          </a:p>
          <a:p>
            <a:r>
              <a:rPr lang="en-IN" dirty="0">
                <a:highlight>
                  <a:srgbClr val="FFFF00"/>
                </a:highlight>
              </a:rPr>
              <a:t>Prospectus documents </a:t>
            </a:r>
          </a:p>
          <a:p>
            <a:r>
              <a:rPr lang="en-IN" dirty="0">
                <a:highlight>
                  <a:srgbClr val="FFFF00"/>
                </a:highlight>
              </a:rPr>
              <a:t>Fee structure files </a:t>
            </a:r>
          </a:p>
          <a:p>
            <a:r>
              <a:rPr lang="en-IN" dirty="0">
                <a:highlight>
                  <a:srgbClr val="FFFF00"/>
                </a:highlight>
              </a:rPr>
              <a:t>FAQs database</a:t>
            </a:r>
            <a:br>
              <a:rPr lang="en-IN" dirty="0">
                <a:highlight>
                  <a:srgbClr val="FFFF00"/>
                </a:highlight>
              </a:rPr>
            </a:br>
            <a:r>
              <a:rPr lang="en-IN" dirty="0">
                <a:highlight>
                  <a:srgbClr val="FFFF00"/>
                </a:highlight>
              </a:rPr>
              <a:t>Ensures accurate and up-to-date responses.</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buClr>
                <a:srgbClr val="051D3A"/>
              </a:buClr>
              <a:buSzPts val="3500"/>
            </a:pPr>
            <a:r>
              <a:rPr lang="en-US" sz="2400" b="1" dirty="0"/>
              <a:t>Workflow of Orchestrate</a:t>
            </a:r>
            <a:endParaRPr sz="2400" b="1" dirty="0">
              <a:sym typeface="Times New Roman"/>
            </a:endParaRPr>
          </a:p>
        </p:txBody>
      </p:sp>
      <p:pic>
        <p:nvPicPr>
          <p:cNvPr id="6" name="Picture 5">
            <a:extLst>
              <a:ext uri="{FF2B5EF4-FFF2-40B4-BE49-F238E27FC236}">
                <a16:creationId xmlns:a16="http://schemas.microsoft.com/office/drawing/2014/main" id="{65EEE533-3911-59BC-F91F-BB31093C7BC3}"/>
              </a:ext>
            </a:extLst>
          </p:cNvPr>
          <p:cNvPicPr>
            <a:picLocks noChangeAspect="1"/>
          </p:cNvPicPr>
          <p:nvPr/>
        </p:nvPicPr>
        <p:blipFill>
          <a:blip r:embed="rId3"/>
          <a:stretch>
            <a:fillRect/>
          </a:stretch>
        </p:blipFill>
        <p:spPr>
          <a:xfrm>
            <a:off x="1842561" y="771747"/>
            <a:ext cx="8506878" cy="554329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5" name="Picture 4">
            <a:extLst>
              <a:ext uri="{FF2B5EF4-FFF2-40B4-BE49-F238E27FC236}">
                <a16:creationId xmlns:a16="http://schemas.microsoft.com/office/drawing/2014/main" id="{862C6269-20F8-C3FD-FF9B-E6DEB72C077A}"/>
              </a:ext>
            </a:extLst>
          </p:cNvPr>
          <p:cNvPicPr>
            <a:picLocks noChangeAspect="1"/>
          </p:cNvPicPr>
          <p:nvPr/>
        </p:nvPicPr>
        <p:blipFill>
          <a:blip r:embed="rId3"/>
          <a:stretch>
            <a:fillRect/>
          </a:stretch>
        </p:blipFill>
        <p:spPr>
          <a:xfrm>
            <a:off x="176981" y="771747"/>
            <a:ext cx="12015019" cy="57630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016758"/>
          </a:xfrm>
          <a:prstGeom prst="rect">
            <a:avLst/>
          </a:prstGeom>
          <a:noFill/>
        </p:spPr>
        <p:txBody>
          <a:bodyPr wrap="square" rtlCol="0">
            <a:spAutoFit/>
          </a:bodyPr>
          <a:lstStyle/>
          <a:p>
            <a:r>
              <a:rPr lang="en-US" sz="1600" b="1" dirty="0"/>
              <a:t>Role of Agentic AI in College Admission Agent (RAG Based)</a:t>
            </a:r>
          </a:p>
          <a:p>
            <a:endParaRPr lang="en-US" sz="1600" b="1" dirty="0"/>
          </a:p>
          <a:p>
            <a:r>
              <a:rPr lang="en-US" sz="1600" b="1" dirty="0"/>
              <a:t>Agentic AI</a:t>
            </a:r>
            <a:r>
              <a:rPr lang="en-US" sz="1600" dirty="0"/>
              <a:t> enables the College Admission Agent to function as an intelligent, autonomous system rather than a simple chatbot. Using </a:t>
            </a:r>
            <a:r>
              <a:rPr lang="en-US" sz="1600" b="1" dirty="0"/>
              <a:t>IBM watsonx.ai and IBM Granite models</a:t>
            </a:r>
            <a:r>
              <a:rPr lang="en-US" sz="1600" dirty="0"/>
              <a:t>, it coordinates multiple specialized agents to deliver accurate and personalized admission guidance.</a:t>
            </a:r>
          </a:p>
          <a:p>
            <a:r>
              <a:rPr lang="en-US" sz="1600" dirty="0"/>
              <a:t>Each agent performs a specific role—such as retrieving admission policies, eligibility criteria, fee structures, course details, and important deadlines—while working collaboratively. This </a:t>
            </a:r>
            <a:r>
              <a:rPr lang="en-US" sz="1600" b="1" dirty="0"/>
              <a:t>multi-agent approach</a:t>
            </a:r>
            <a:r>
              <a:rPr lang="en-US" sz="1600" dirty="0"/>
              <a:t> ensures efficient query handling and accurate, context-aware responses.</a:t>
            </a:r>
          </a:p>
          <a:p>
            <a:r>
              <a:rPr lang="en-US" sz="1600" dirty="0"/>
              <a:t>Agentic AI also brings </a:t>
            </a:r>
            <a:r>
              <a:rPr lang="en-US" sz="1600" b="1" dirty="0"/>
              <a:t>context awareness</a:t>
            </a:r>
            <a:r>
              <a:rPr lang="en-US" sz="1600" dirty="0"/>
              <a:t>, understanding user details like academic background, interests, and career goals to generate relevant course suggestions and admission guidance. It supports </a:t>
            </a:r>
            <a:r>
              <a:rPr lang="en-US" sz="1600" b="1" dirty="0"/>
              <a:t>real-time adaptation</a:t>
            </a:r>
            <a:r>
              <a:rPr lang="en-US" sz="1600" dirty="0"/>
              <a:t>, continuously updating information from official sources to provide the latest admission updates.</a:t>
            </a:r>
          </a:p>
          <a:p>
            <a:r>
              <a:rPr lang="en-US" sz="1600" dirty="0"/>
              <a:t>Additionally, agents communicate with each other, enabling better decision-making and improved student experience.</a:t>
            </a:r>
          </a:p>
          <a:p>
            <a:r>
              <a:rPr lang="en-US" sz="1600" dirty="0"/>
              <a:t>Overall, Agentic AI makes the system proactive, transparent, and goal-driven, acting like a </a:t>
            </a:r>
            <a:r>
              <a:rPr lang="en-US" sz="1600" b="1" dirty="0"/>
              <a:t>smart admission assistant</a:t>
            </a:r>
            <a:r>
              <a:rPr lang="en-US" sz="1600" dirty="0"/>
              <a:t> that helps students make informed decisions and simplifies the entire admission process.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10,695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1689438" y="2451182"/>
            <a:ext cx="2680218" cy="2979532"/>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7106828" y="2348121"/>
            <a:ext cx="298533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r>
              <a:rPr lang="en-US" sz="1800" dirty="0"/>
              <a:t>The proposed </a:t>
            </a:r>
            <a:r>
              <a:rPr lang="en-US" sz="1800" b="1" dirty="0"/>
              <a:t>College Admission Agent</a:t>
            </a:r>
            <a:r>
              <a:rPr lang="en-US" sz="1800" dirty="0"/>
              <a:t> stands out by combining </a:t>
            </a:r>
            <a:r>
              <a:rPr lang="en-US" sz="1800" b="1" dirty="0"/>
              <a:t>Agentic AI, RAG, and personalization</a:t>
            </a:r>
            <a:r>
              <a:rPr lang="en-US" sz="1800" dirty="0"/>
              <a:t> into a single intelligent admission assistant.</a:t>
            </a:r>
          </a:p>
          <a:p>
            <a:r>
              <a:rPr lang="en-US" sz="1800" b="1" dirty="0"/>
              <a:t>Multi-Agent Intelligence</a:t>
            </a:r>
            <a:r>
              <a:rPr lang="en-US" sz="1800" dirty="0"/>
              <a:t> – Instead of a single chatbot, specialized agents handle queries like eligibility, course selection, and application guidance for more accurate responses.</a:t>
            </a:r>
          </a:p>
          <a:p>
            <a:r>
              <a:rPr lang="en-US" sz="1800" b="1" dirty="0"/>
              <a:t>RAG-Based Accuracy</a:t>
            </a:r>
            <a:r>
              <a:rPr lang="en-US" sz="1800" dirty="0"/>
              <a:t> – Integrates real-time retrieval from college databases, policies, and FAQs with AI generation, ensuring reliable and up-to-date information.</a:t>
            </a:r>
          </a:p>
          <a:p>
            <a:r>
              <a:rPr lang="en-US" sz="1800" b="1" dirty="0"/>
              <a:t>Personalized Guidance</a:t>
            </a:r>
            <a:r>
              <a:rPr lang="en-US" sz="1800" dirty="0"/>
              <a:t> – Recommends courses and colleges based on student interests, academic background, and career goals.</a:t>
            </a:r>
          </a:p>
          <a:p>
            <a:r>
              <a:rPr lang="en-US" sz="1800" b="1" dirty="0"/>
              <a:t>Real-Time Query Handling</a:t>
            </a:r>
            <a:r>
              <a:rPr lang="en-US" sz="1800" dirty="0"/>
              <a:t> – Instantly answers student questions about fees, deadlines, and admission procedures without manual intervention.</a:t>
            </a:r>
          </a:p>
          <a:p>
            <a:r>
              <a:rPr lang="en-US" sz="1800" b="1" dirty="0"/>
              <a:t>Multi-Modal Interaction</a:t>
            </a:r>
            <a:r>
              <a:rPr lang="en-US" sz="1800" dirty="0"/>
              <a:t> – Supports text and voice-based queries, making it accessible to a wider range of users.</a:t>
            </a:r>
          </a:p>
          <a:p>
            <a:r>
              <a:rPr lang="en-US" sz="1800" b="1" dirty="0"/>
              <a:t>End-to-End Admission Support</a:t>
            </a:r>
            <a:r>
              <a:rPr lang="en-US" sz="1800" dirty="0"/>
              <a:t> – Assists with eligibility checks, document requirements, application steps, and deadline reminders.</a:t>
            </a:r>
          </a:p>
          <a:p>
            <a:r>
              <a:rPr lang="en-US" sz="1800" b="1" dirty="0"/>
              <a:t>Scalable &amp; Enterprise-Ready</a:t>
            </a:r>
            <a:r>
              <a:rPr lang="en-US" sz="1800" dirty="0"/>
              <a:t> – Built on modern AI platforms like </a:t>
            </a:r>
            <a:r>
              <a:rPr lang="en-US" sz="1800" b="1" dirty="0"/>
              <a:t>IBM watsonx.ai</a:t>
            </a:r>
            <a:r>
              <a:rPr lang="en-US" sz="1800" dirty="0"/>
              <a:t>, ensuring performance, reliability, and governance.</a:t>
            </a:r>
          </a:p>
          <a:p>
            <a:endParaRPr lang="en-IN" sz="1800" dirty="0"/>
          </a:p>
          <a:p>
            <a:r>
              <a:rPr lang="en-US" sz="1800" dirty="0"/>
              <a:t>This makes the solution a </a:t>
            </a:r>
            <a:r>
              <a:rPr lang="en-US" sz="1800" b="1" dirty="0"/>
              <a:t>smart, interactive, and proactive admission assistant</a:t>
            </a:r>
            <a:r>
              <a:rPr lang="en-US" sz="1800" dirty="0"/>
              <a:t>, not just a basic FAQ chatbot.</a:t>
            </a:r>
            <a:endParaRPr lang="en-IN" sz="1800"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–https://github.com/nandanarya2005-star/College_Admission_Agent_RAG-Based.git</a:t>
            </a:r>
            <a:endParaRPr lang="en-US" sz="1850" dirty="0">
              <a:solidFill>
                <a:srgbClr val="2B3541"/>
              </a:solidFill>
              <a:latin typeface="Times New Roman"/>
              <a:ea typeface="Times New Roman"/>
              <a:cs typeface="Times New Roman"/>
            </a:endParaRP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latin typeface="Times New Roman"/>
                <a:ea typeface="Times New Roman"/>
                <a:cs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endParaRPr lang="en-US" sz="1850" dirty="0">
              <a:solidFill>
                <a:srgbClr val="2B3541"/>
              </a:solidFill>
              <a:latin typeface="Times New Roman"/>
              <a:ea typeface="Times New Roman"/>
              <a:cs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eaLnBrk="0" fontAlgn="base" hangingPunct="0">
              <a:spcBef>
                <a:spcPct val="0"/>
              </a:spcBef>
              <a:spcAft>
                <a:spcPct val="0"/>
              </a:spcAft>
              <a:buClrTx/>
            </a:pPr>
            <a:r>
              <a:rPr lang="en-US" altLang="en-US" sz="2000" b="1" dirty="0">
                <a:solidFill>
                  <a:schemeClr val="tx1"/>
                </a:solidFill>
                <a:latin typeface="Arial" panose="020B0604020202020204" pitchFamily="34" charset="0"/>
              </a:rPr>
              <a:t>1.Integration with Student Data Systems –</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The system can be integrated with academic databases and student information systems to access real-time data such as previous academic records, entrance scores, and eligibility status. This enables the Admission Agent to provide more accurate and personalized course recommendations and admission guidance based on individual student profiles.</a:t>
            </a:r>
          </a:p>
          <a:p>
            <a:pPr lvl="0" eaLnBrk="0" fontAlgn="base" hangingPunct="0">
              <a:spcBef>
                <a:spcPct val="0"/>
              </a:spcBef>
              <a:spcAft>
                <a:spcPct val="0"/>
              </a:spcAft>
              <a:buClrTx/>
              <a:buFontTx/>
              <a:buChar char="•"/>
            </a:pPr>
            <a:endParaRPr lang="en-US" altLang="en-US" sz="2000" dirty="0">
              <a:solidFill>
                <a:schemeClr val="tx1"/>
              </a:solidFill>
              <a:latin typeface="Arial" panose="020B0604020202020204" pitchFamily="34" charset="0"/>
            </a:endParaRPr>
          </a:p>
          <a:p>
            <a:pPr lvl="0" eaLnBrk="0" fontAlgn="base" hangingPunct="0">
              <a:spcBef>
                <a:spcPct val="0"/>
              </a:spcBef>
              <a:spcAft>
                <a:spcPct val="0"/>
              </a:spcAft>
              <a:buClrTx/>
            </a:pPr>
            <a:r>
              <a:rPr lang="en-US" altLang="en-US" sz="2000" b="1" dirty="0">
                <a:solidFill>
                  <a:schemeClr val="tx1"/>
                </a:solidFill>
                <a:latin typeface="Arial" panose="020B0604020202020204" pitchFamily="34" charset="0"/>
              </a:rPr>
              <a:t>2.AI-Powered Chatbot &amp; Multilingual Support –</a:t>
            </a:r>
            <a:br>
              <a:rPr lang="en-US" altLang="en-US" sz="2000" dirty="0">
                <a:solidFill>
                  <a:schemeClr val="tx1"/>
                </a:solidFill>
                <a:latin typeface="Arial" panose="020B0604020202020204" pitchFamily="34" charset="0"/>
              </a:rPr>
            </a:br>
            <a:r>
              <a:rPr lang="en-US" altLang="en-US" sz="2000" dirty="0">
                <a:solidFill>
                  <a:schemeClr val="tx1"/>
                </a:solidFill>
                <a:latin typeface="Arial" panose="020B0604020202020204" pitchFamily="34" charset="0"/>
              </a:rPr>
              <a:t>Enhancing the system with a conversational chatbot and multilingual capabilities will improve accessibility. Students can interact naturally in their preferred language, making the admission process more inclusive and user-friendly, especially for applicants from diverse linguistic backgrounds. </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650123" y="1343396"/>
            <a:ext cx="6881857"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l="2613" r="2613"/>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1417</Words>
  <Application>Microsoft Office PowerPoint</Application>
  <PresentationFormat>Widescreen</PresentationFormat>
  <Paragraphs>123</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Nandan Arya M</cp:lastModifiedBy>
  <cp:revision>16</cp:revision>
  <dcterms:created xsi:type="dcterms:W3CDTF">2025-07-08T05:06:56Z</dcterms:created>
  <dcterms:modified xsi:type="dcterms:W3CDTF">2026-09-10T18:32:03Z</dcterms:modified>
</cp:coreProperties>
</file>